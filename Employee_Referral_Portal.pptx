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ADD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02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8032E4-B672-13F2-0F70-E5599A27FE9D}"/>
              </a:ext>
            </a:extLst>
          </p:cNvPr>
          <p:cNvSpPr/>
          <p:nvPr/>
        </p:nvSpPr>
        <p:spPr>
          <a:xfrm>
            <a:off x="1786597" y="2180493"/>
            <a:ext cx="8412480" cy="13610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BUSINESS ANALYSIS PROJECT</a:t>
            </a:r>
          </a:p>
          <a:p>
            <a:r>
              <a:rPr lang="en-US" sz="5400" b="1" dirty="0"/>
              <a:t>Employee Referral Portal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63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43DC7-A62E-3BF6-10D1-152F7A63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08D2E3-A090-4996-7285-14CFDA55B00B}"/>
              </a:ext>
            </a:extLst>
          </p:cNvPr>
          <p:cNvSpPr/>
          <p:nvPr/>
        </p:nvSpPr>
        <p:spPr>
          <a:xfrm>
            <a:off x="412652" y="934170"/>
            <a:ext cx="3089563" cy="595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STAKEHOLDER FEATURE ASK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629837-0FC8-CC1E-6F09-8F11B0E50DEB}"/>
              </a:ext>
            </a:extLst>
          </p:cNvPr>
          <p:cNvSpPr/>
          <p:nvPr/>
        </p:nvSpPr>
        <p:spPr>
          <a:xfrm>
            <a:off x="406205" y="177337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BUSINESS PROBLEM &amp;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9530E6-B83A-8BE4-196B-193E720235E2}"/>
              </a:ext>
            </a:extLst>
          </p:cNvPr>
          <p:cNvSpPr/>
          <p:nvPr/>
        </p:nvSpPr>
        <p:spPr>
          <a:xfrm>
            <a:off x="406204" y="265559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PROJECT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49ADFC-9439-AC09-A048-205722BEF1C0}"/>
              </a:ext>
            </a:extLst>
          </p:cNvPr>
          <p:cNvSpPr/>
          <p:nvPr/>
        </p:nvSpPr>
        <p:spPr>
          <a:xfrm>
            <a:off x="406203" y="349480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STAKEHOLDER &amp; USER </a:t>
            </a:r>
            <a:br>
              <a:rPr lang="en-US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E8C5A5-DFCE-89E8-B1D2-A69944F211DE}"/>
              </a:ext>
            </a:extLst>
          </p:cNvPr>
          <p:cNvSpPr/>
          <p:nvPr/>
        </p:nvSpPr>
        <p:spPr>
          <a:xfrm>
            <a:off x="412652" y="437702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REQUIREMENTS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9CF447-BB03-047E-7FD3-0613C9EAB656}"/>
              </a:ext>
            </a:extLst>
          </p:cNvPr>
          <p:cNvSpPr/>
          <p:nvPr/>
        </p:nvSpPr>
        <p:spPr>
          <a:xfrm>
            <a:off x="412652" y="5216237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USER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STORIES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&amp; 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ACCEPTANCE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CRITERIA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160AB8-2220-C32E-602C-0A2F2519DD8B}"/>
              </a:ext>
            </a:extLst>
          </p:cNvPr>
          <p:cNvSpPr/>
          <p:nvPr/>
        </p:nvSpPr>
        <p:spPr>
          <a:xfrm>
            <a:off x="3263705" y="182880"/>
            <a:ext cx="8792307" cy="65133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Need</a:t>
            </a:r>
          </a:p>
          <a:p>
            <a:pPr algn="ctr"/>
            <a:r>
              <a:rPr lang="en-US" dirty="0"/>
              <a:t>A centralized portal to simplify employee referrals and improve visibility into the referral process.</a:t>
            </a:r>
          </a:p>
          <a:p>
            <a:pPr algn="ctr"/>
            <a:r>
              <a:rPr lang="en-US" dirty="0"/>
              <a:t>Key Stakeholder Requirements</a:t>
            </a:r>
          </a:p>
          <a:p>
            <a:pPr algn="ctr"/>
            <a:r>
              <a:rPr lang="en-US" dirty="0"/>
              <a:t>View Job Openings: Employees can browse available positions.</a:t>
            </a:r>
          </a:p>
          <a:p>
            <a:pPr algn="ctr"/>
            <a:r>
              <a:rPr lang="en-US" dirty="0"/>
              <a:t>Refer Candidates: Employees can submit external candidate details and resumes.</a:t>
            </a:r>
          </a:p>
          <a:p>
            <a:pPr algn="ctr"/>
            <a:r>
              <a:rPr lang="en-US" dirty="0"/>
              <a:t>Track Progress: Employees can monitor referral statuses and outcomes.</a:t>
            </a:r>
          </a:p>
          <a:p>
            <a:pPr algn="ctr"/>
            <a:r>
              <a:rPr lang="en-US" dirty="0"/>
              <a:t>Manage Referrals: HR and recruiters can review referrals and update statuses.</a:t>
            </a:r>
          </a:p>
          <a:p>
            <a:pPr algn="ctr"/>
            <a:r>
              <a:rPr lang="en-US" dirty="0"/>
              <a:t>Manage Job Openings: HR and recruiters can maintain available positions.</a:t>
            </a:r>
          </a:p>
          <a:p>
            <a:pPr algn="ctr"/>
            <a:r>
              <a:rPr lang="en-US" dirty="0"/>
              <a:t>Communicate Outcomes: Employees receive updates on referral progress and decisions.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1D965-A01F-0AA3-69A9-0A29485320F6}"/>
              </a:ext>
            </a:extLst>
          </p:cNvPr>
          <p:cNvSpPr txBox="1"/>
          <p:nvPr/>
        </p:nvSpPr>
        <p:spPr>
          <a:xfrm>
            <a:off x="3671455" y="734291"/>
            <a:ext cx="766710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Business Need</a:t>
            </a:r>
          </a:p>
          <a:p>
            <a:r>
              <a:rPr lang="en-US" dirty="0">
                <a:latin typeface="Aptos" panose="020B0004020202020204" pitchFamily="34" charset="0"/>
              </a:rPr>
              <a:t>A centralized portal to simplify employee referrals and improve visibility into the referral process.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sz="2400" b="1" dirty="0">
                <a:latin typeface="Aptos" panose="020B0004020202020204" pitchFamily="34" charset="0"/>
              </a:rPr>
              <a:t>Key Stakeholder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View Job Openings: Employees can browse available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Refer Candidates: Employees can submit external candidate details and resumes.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Track Progress: Employees can monitor referral statuses and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Manage Referrals: HR and recruiters can review referrals and update statuses.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Manage Job Openings: HR and recruiters can maintain available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Communicate Outcomes: Employees receive updates on referral progress and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13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4993F-2764-C8A6-1639-7285CE94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6C3D5F-334D-E691-5A4B-AD7DC19C0E6D}"/>
              </a:ext>
            </a:extLst>
          </p:cNvPr>
          <p:cNvSpPr/>
          <p:nvPr/>
        </p:nvSpPr>
        <p:spPr>
          <a:xfrm>
            <a:off x="412652" y="934170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STAKEHOLDER FEATURE ASK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569896-99D8-F281-98CC-E5783B25EED9}"/>
              </a:ext>
            </a:extLst>
          </p:cNvPr>
          <p:cNvSpPr/>
          <p:nvPr/>
        </p:nvSpPr>
        <p:spPr>
          <a:xfrm>
            <a:off x="406205" y="1773378"/>
            <a:ext cx="3089563" cy="595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BUSINESS PROBLEM &amp;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5FD58D-2228-22A5-5A73-00986CF7D74B}"/>
              </a:ext>
            </a:extLst>
          </p:cNvPr>
          <p:cNvSpPr/>
          <p:nvPr/>
        </p:nvSpPr>
        <p:spPr>
          <a:xfrm>
            <a:off x="406204" y="265559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PROJECT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868BDF-AAEB-A803-C933-73A67E6B23B9}"/>
              </a:ext>
            </a:extLst>
          </p:cNvPr>
          <p:cNvSpPr/>
          <p:nvPr/>
        </p:nvSpPr>
        <p:spPr>
          <a:xfrm>
            <a:off x="406203" y="349480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STAKEHOLDER &amp; USER </a:t>
            </a:r>
            <a:br>
              <a:rPr lang="en-US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A1DAA3-6CF7-3BB5-8379-C4649F91912C}"/>
              </a:ext>
            </a:extLst>
          </p:cNvPr>
          <p:cNvSpPr/>
          <p:nvPr/>
        </p:nvSpPr>
        <p:spPr>
          <a:xfrm>
            <a:off x="412652" y="437702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REQUIREMENTS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314AD7-5B7B-F8E3-1352-49A9665BA5D0}"/>
              </a:ext>
            </a:extLst>
          </p:cNvPr>
          <p:cNvSpPr/>
          <p:nvPr/>
        </p:nvSpPr>
        <p:spPr>
          <a:xfrm>
            <a:off x="412652" y="5216237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USER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STORIES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&amp; 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ACCEPTANCE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CRITERIA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8CB439-D639-C759-E013-D50A161D390C}"/>
              </a:ext>
            </a:extLst>
          </p:cNvPr>
          <p:cNvSpPr/>
          <p:nvPr/>
        </p:nvSpPr>
        <p:spPr>
          <a:xfrm>
            <a:off x="3327010" y="172329"/>
            <a:ext cx="8792307" cy="65133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48712000-DF04-D9E1-F2D1-2A587CA3C3CF}"/>
              </a:ext>
            </a:extLst>
          </p:cNvPr>
          <p:cNvSpPr txBox="1">
            <a:spLocks/>
          </p:cNvSpPr>
          <p:nvPr/>
        </p:nvSpPr>
        <p:spPr>
          <a:xfrm>
            <a:off x="3721291" y="819871"/>
            <a:ext cx="4083026" cy="426719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en-US" sz="2400" b="1" dirty="0">
                <a:latin typeface="Aptos" panose="020B0004020202020204" pitchFamily="34" charset="0"/>
              </a:rPr>
              <a:t>Business Problem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ptos" panose="020B0004020202020204" pitchFamily="34" charset="0"/>
              </a:rPr>
              <a:t>Referral information may be scattered across different communication channels.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ptos" panose="020B0004020202020204" pitchFamily="34" charset="0"/>
              </a:rPr>
              <a:t>Employees may have limited visibility into referral progress.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ptos" panose="020B0004020202020204" pitchFamily="34" charset="0"/>
              </a:rPr>
              <a:t>HR and recruiters need a centralized way to manage referrals and communicate outcomes.</a:t>
            </a:r>
          </a:p>
          <a:p>
            <a:endParaRPr lang="en-US" sz="2400" b="1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31A2D3F-434E-E76B-7BA0-5FED5B3997F0}"/>
              </a:ext>
            </a:extLst>
          </p:cNvPr>
          <p:cNvSpPr txBox="1">
            <a:spLocks/>
          </p:cNvSpPr>
          <p:nvPr/>
        </p:nvSpPr>
        <p:spPr>
          <a:xfrm>
            <a:off x="7848074" y="816408"/>
            <a:ext cx="4083027" cy="4267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rPr>
              <a:t>Project Objectives</a:t>
            </a:r>
          </a:p>
          <a:p>
            <a:pPr lvl="0"/>
            <a:r>
              <a:rPr lang="en-US" sz="2000" dirty="0">
                <a:latin typeface="Aptos" panose="020B0004020202020204" pitchFamily="34" charset="0"/>
              </a:rPr>
              <a:t>Centralize candidate referral information.</a:t>
            </a:r>
          </a:p>
          <a:p>
            <a:pPr lvl="0"/>
            <a:r>
              <a:rPr lang="en-US" sz="2000" dirty="0">
                <a:latin typeface="Aptos" panose="020B0004020202020204" pitchFamily="34" charset="0"/>
              </a:rPr>
              <a:t>Simplify external candidate referral submissions.</a:t>
            </a:r>
          </a:p>
          <a:p>
            <a:pPr lvl="0"/>
            <a:r>
              <a:rPr lang="en-US" sz="2000" dirty="0">
                <a:latin typeface="Aptos" panose="020B0004020202020204" pitchFamily="34" charset="0"/>
              </a:rPr>
              <a:t>Enable employees to track referral statuses and outcomes.</a:t>
            </a:r>
          </a:p>
          <a:p>
            <a:pPr lvl="0"/>
            <a:r>
              <a:rPr lang="en-US" sz="2000" dirty="0">
                <a:latin typeface="Aptos" panose="020B0004020202020204" pitchFamily="34" charset="0"/>
              </a:rPr>
              <a:t>Help HR and recruiters manage job openings and review referrals.</a:t>
            </a:r>
          </a:p>
          <a:p>
            <a:pPr lvl="0"/>
            <a:r>
              <a:rPr lang="en-US" sz="2000" dirty="0">
                <a:latin typeface="Aptos" panose="020B0004020202020204" pitchFamily="34" charset="0"/>
              </a:rPr>
              <a:t>Improve communication of referral updates and decisions.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2938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8A87D-2BE5-0D18-C264-E0484E22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E1ADA1-640E-BC3F-3947-D9E08F2CD592}"/>
              </a:ext>
            </a:extLst>
          </p:cNvPr>
          <p:cNvSpPr/>
          <p:nvPr/>
        </p:nvSpPr>
        <p:spPr>
          <a:xfrm>
            <a:off x="412652" y="934170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STAKEHOLDER FEATURE ASK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D984A3-B961-5A4E-A4F2-1DD45B20F46A}"/>
              </a:ext>
            </a:extLst>
          </p:cNvPr>
          <p:cNvSpPr/>
          <p:nvPr/>
        </p:nvSpPr>
        <p:spPr>
          <a:xfrm>
            <a:off x="406205" y="177337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 PROBLEM &amp;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2FE587-D844-AD31-8CF8-A87F5052E580}"/>
              </a:ext>
            </a:extLst>
          </p:cNvPr>
          <p:cNvSpPr/>
          <p:nvPr/>
        </p:nvSpPr>
        <p:spPr>
          <a:xfrm>
            <a:off x="406204" y="2655599"/>
            <a:ext cx="3089563" cy="595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PROJECT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09604A-355B-38BC-56B8-EF03ADB04B47}"/>
              </a:ext>
            </a:extLst>
          </p:cNvPr>
          <p:cNvSpPr/>
          <p:nvPr/>
        </p:nvSpPr>
        <p:spPr>
          <a:xfrm>
            <a:off x="406203" y="349480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STAKEHOLDER &amp; USER </a:t>
            </a:r>
            <a:br>
              <a:rPr lang="en-US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92759F-D564-F48A-2707-87A0CF827077}"/>
              </a:ext>
            </a:extLst>
          </p:cNvPr>
          <p:cNvSpPr/>
          <p:nvPr/>
        </p:nvSpPr>
        <p:spPr>
          <a:xfrm>
            <a:off x="412652" y="437702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REQUIREMENTS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322889-5B15-BA50-4CE3-53C83AA75A7B}"/>
              </a:ext>
            </a:extLst>
          </p:cNvPr>
          <p:cNvSpPr/>
          <p:nvPr/>
        </p:nvSpPr>
        <p:spPr>
          <a:xfrm>
            <a:off x="412652" y="5216237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USER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STORIES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&amp; 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ACCEPTANCE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CRITERIA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ED3D2F-DAA2-6DB1-35E0-D548DE62FB35}"/>
              </a:ext>
            </a:extLst>
          </p:cNvPr>
          <p:cNvSpPr/>
          <p:nvPr/>
        </p:nvSpPr>
        <p:spPr>
          <a:xfrm>
            <a:off x="3263705" y="106521"/>
            <a:ext cx="8792307" cy="65133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FAF7A4-54B3-F5DA-1864-5A9D20A2E558}"/>
              </a:ext>
            </a:extLst>
          </p:cNvPr>
          <p:cNvSpPr txBox="1">
            <a:spLocks/>
          </p:cNvSpPr>
          <p:nvPr/>
        </p:nvSpPr>
        <p:spPr>
          <a:xfrm>
            <a:off x="3928451" y="509258"/>
            <a:ext cx="4157059" cy="5450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Aptos" panose="020B0004020202020204" pitchFamily="34" charset="0"/>
              </a:rPr>
              <a:t>In Scope</a:t>
            </a:r>
          </a:p>
          <a:p>
            <a:pPr marL="0" indent="0">
              <a:buNone/>
            </a:pPr>
            <a:endParaRPr lang="en-US" sz="2400" b="1" dirty="0">
              <a:latin typeface="Aptos" panose="020B0004020202020204" pitchFamily="34" charset="0"/>
            </a:endParaRP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View active job openings.</a:t>
            </a: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Submit external candidate details and resumes.</a:t>
            </a: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Track referral progress and outcomes.</a:t>
            </a: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Review referrals and update referral statuses.</a:t>
            </a: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Create and manage job openings.</a:t>
            </a: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Communicate referral updates and decisions to employees.</a:t>
            </a:r>
          </a:p>
          <a:p>
            <a:pPr marL="331470" indent="-285750"/>
            <a:r>
              <a:rPr lang="en-US" sz="1900" dirty="0">
                <a:latin typeface="Aptos" panose="020B0004020202020204" pitchFamily="34" charset="0"/>
              </a:rPr>
              <a:t>Maintain centralized referral records with role-based access.</a:t>
            </a:r>
          </a:p>
          <a:p>
            <a:pPr marL="331470" indent="-285750"/>
            <a:endParaRPr lang="en-US" b="1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716AD9B-1AA2-04D1-49EB-C8FE7B6028F7}"/>
              </a:ext>
            </a:extLst>
          </p:cNvPr>
          <p:cNvSpPr txBox="1">
            <a:spLocks/>
          </p:cNvSpPr>
          <p:nvPr/>
        </p:nvSpPr>
        <p:spPr>
          <a:xfrm>
            <a:off x="8158626" y="540323"/>
            <a:ext cx="3824270" cy="3657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en-US" sz="2400" b="1" dirty="0">
                <a:latin typeface="Aptos" panose="020B0004020202020204" pitchFamily="34" charset="0"/>
              </a:rPr>
              <a:t>Out of Scope</a:t>
            </a:r>
          </a:p>
          <a:p>
            <a:pPr marL="45720" indent="0">
              <a:buFont typeface="Arial" pitchFamily="34" charset="0"/>
              <a:buNone/>
            </a:pPr>
            <a:endParaRPr lang="en-US" sz="2400" b="1" dirty="0">
              <a:latin typeface="Aptos" panose="020B0004020202020204" pitchFamily="34" charset="0"/>
            </a:endParaRPr>
          </a:p>
          <a:p>
            <a:r>
              <a:rPr lang="en-US" sz="1900" dirty="0">
                <a:latin typeface="Aptos" panose="020B0004020202020204" pitchFamily="34" charset="0"/>
              </a:rPr>
              <a:t>Internal job applications by employees.</a:t>
            </a:r>
          </a:p>
          <a:p>
            <a:r>
              <a:rPr lang="en-US" sz="1900" dirty="0">
                <a:latin typeface="Aptos" panose="020B0004020202020204" pitchFamily="34" charset="0"/>
              </a:rPr>
              <a:t>Employee career development and career management.</a:t>
            </a:r>
          </a:p>
          <a:p>
            <a:r>
              <a:rPr lang="en-US" sz="1900" dirty="0">
                <a:latin typeface="Aptos" panose="020B0004020202020204" pitchFamily="34" charset="0"/>
              </a:rPr>
              <a:t>Payroll and compensation management.</a:t>
            </a:r>
          </a:p>
          <a:p>
            <a:r>
              <a:rPr lang="en-US" sz="1900" dirty="0">
                <a:latin typeface="Aptos" panose="020B0004020202020204" pitchFamily="34" charset="0"/>
              </a:rPr>
              <a:t>Complete external recruitment management beyond the referral process.</a:t>
            </a:r>
          </a:p>
          <a:p>
            <a:pPr marL="45720" indent="0">
              <a:buFont typeface="Arial" pitchFamily="34" charset="0"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5664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FA369-1CEB-D67D-06B0-95AD7F18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61F56B-B694-FE7F-8CCF-11A5867CC876}"/>
              </a:ext>
            </a:extLst>
          </p:cNvPr>
          <p:cNvSpPr/>
          <p:nvPr/>
        </p:nvSpPr>
        <p:spPr>
          <a:xfrm>
            <a:off x="412652" y="934170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STAKEHOLDER FEATURE ASK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FD6902-5624-D8BB-750B-8EA67FBD5C2D}"/>
              </a:ext>
            </a:extLst>
          </p:cNvPr>
          <p:cNvSpPr/>
          <p:nvPr/>
        </p:nvSpPr>
        <p:spPr>
          <a:xfrm>
            <a:off x="406205" y="177337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 PROBLEM &amp;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B50CEB-B24D-9A85-D7A6-B23EFBB3AEF8}"/>
              </a:ext>
            </a:extLst>
          </p:cNvPr>
          <p:cNvSpPr/>
          <p:nvPr/>
        </p:nvSpPr>
        <p:spPr>
          <a:xfrm>
            <a:off x="406204" y="265559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PROJECT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180944-A384-2E4A-805B-7EF38C3F3275}"/>
              </a:ext>
            </a:extLst>
          </p:cNvPr>
          <p:cNvSpPr/>
          <p:nvPr/>
        </p:nvSpPr>
        <p:spPr>
          <a:xfrm>
            <a:off x="406203" y="3494808"/>
            <a:ext cx="3089563" cy="595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STAKEHOLDER &amp; USER </a:t>
            </a:r>
            <a:b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B4B460-5A46-BDD8-CBA0-FC892A4DB111}"/>
              </a:ext>
            </a:extLst>
          </p:cNvPr>
          <p:cNvSpPr/>
          <p:nvPr/>
        </p:nvSpPr>
        <p:spPr>
          <a:xfrm>
            <a:off x="412652" y="437702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REQUIREMENTS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A126F8-50C0-5307-FE66-471B50C669EB}"/>
              </a:ext>
            </a:extLst>
          </p:cNvPr>
          <p:cNvSpPr/>
          <p:nvPr/>
        </p:nvSpPr>
        <p:spPr>
          <a:xfrm>
            <a:off x="412652" y="5216237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USER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STORIES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&amp; 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ACCEPTANCE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CRITERIA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D3E183-3E57-C108-99FE-5978A2A04D33}"/>
              </a:ext>
            </a:extLst>
          </p:cNvPr>
          <p:cNvSpPr/>
          <p:nvPr/>
        </p:nvSpPr>
        <p:spPr>
          <a:xfrm>
            <a:off x="3263705" y="182880"/>
            <a:ext cx="8792307" cy="65133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45780-1219-49BF-62A5-E0ED7799AB93}"/>
              </a:ext>
            </a:extLst>
          </p:cNvPr>
          <p:cNvSpPr txBox="1"/>
          <p:nvPr/>
        </p:nvSpPr>
        <p:spPr>
          <a:xfrm>
            <a:off x="3659358" y="689789"/>
            <a:ext cx="8001000" cy="547842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Employees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View active job openings.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Submit referrals for external candidates.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Track referral progress and outcomes.</a:t>
            </a:r>
          </a:p>
          <a:p>
            <a:pPr lvl="0"/>
            <a:endParaRPr lang="en-US" dirty="0">
              <a:latin typeface="Aptos" panose="020B000402020202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</a:rPr>
              <a:t>HR Team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Create and manage job openings.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Review submitted referrals.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Update referral statuses and record outcomes.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Communicate referral updates to employees.</a:t>
            </a:r>
          </a:p>
          <a:p>
            <a:pPr lvl="0"/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</a:rPr>
              <a:t>Recruiters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Review candidate referral details and resumes.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Evaluate referred candidates as part of the recruitment process.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Update referral progress and communicate decisions.</a:t>
            </a:r>
          </a:p>
          <a:p>
            <a:pPr lvl="0"/>
            <a:endParaRPr lang="en-US" dirty="0">
              <a:latin typeface="Aptos" panose="020B000402020202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</a:rPr>
              <a:t>Key Stakeholder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Business stakeholders validate requirements, business rules, and expected outcomes.</a:t>
            </a:r>
          </a:p>
        </p:txBody>
      </p:sp>
    </p:spTree>
    <p:extLst>
      <p:ext uri="{BB962C8B-B14F-4D97-AF65-F5344CB8AC3E}">
        <p14:creationId xmlns:p14="http://schemas.microsoft.com/office/powerpoint/2010/main" val="2195908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6E68F-84FF-C44F-6872-AE4D58B26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812009-2F58-D43C-E05B-962A7144CC32}"/>
              </a:ext>
            </a:extLst>
          </p:cNvPr>
          <p:cNvSpPr/>
          <p:nvPr/>
        </p:nvSpPr>
        <p:spPr>
          <a:xfrm>
            <a:off x="412652" y="934170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STAKEHOLDER FEATURE ASK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9FF589-EF39-8227-F1C3-6C2F3265EA15}"/>
              </a:ext>
            </a:extLst>
          </p:cNvPr>
          <p:cNvSpPr/>
          <p:nvPr/>
        </p:nvSpPr>
        <p:spPr>
          <a:xfrm>
            <a:off x="406205" y="177337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 PROBLEM &amp;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9D0A01-3D20-0F1E-FA3C-EC5CAD72D15E}"/>
              </a:ext>
            </a:extLst>
          </p:cNvPr>
          <p:cNvSpPr/>
          <p:nvPr/>
        </p:nvSpPr>
        <p:spPr>
          <a:xfrm>
            <a:off x="406204" y="265559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PROJECT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6C6AED-5F19-C8B2-22E3-117DB0EF9673}"/>
              </a:ext>
            </a:extLst>
          </p:cNvPr>
          <p:cNvSpPr/>
          <p:nvPr/>
        </p:nvSpPr>
        <p:spPr>
          <a:xfrm>
            <a:off x="406203" y="349480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STAKEHOLDER &amp; USER </a:t>
            </a:r>
            <a:br>
              <a:rPr lang="en-US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2CF6FF-13B4-B04C-9C94-15013122A7D9}"/>
              </a:ext>
            </a:extLst>
          </p:cNvPr>
          <p:cNvSpPr/>
          <p:nvPr/>
        </p:nvSpPr>
        <p:spPr>
          <a:xfrm>
            <a:off x="412652" y="4377029"/>
            <a:ext cx="3089563" cy="595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BUSINESS REQUIREMENTS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86A680-035B-86BD-8AB5-7EED8D9BC1DD}"/>
              </a:ext>
            </a:extLst>
          </p:cNvPr>
          <p:cNvSpPr/>
          <p:nvPr/>
        </p:nvSpPr>
        <p:spPr>
          <a:xfrm>
            <a:off x="412652" y="5216237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USER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STORIES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&amp; 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ACCEPTANCE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CRITERIA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8FBEA9-357E-9991-F49A-085E8004D48D}"/>
              </a:ext>
            </a:extLst>
          </p:cNvPr>
          <p:cNvSpPr/>
          <p:nvPr/>
        </p:nvSpPr>
        <p:spPr>
          <a:xfrm>
            <a:off x="3263705" y="182880"/>
            <a:ext cx="8792307" cy="65133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640E0-CB31-7BCF-82D1-F0C877362023}"/>
              </a:ext>
            </a:extLst>
          </p:cNvPr>
          <p:cNvSpPr txBox="1"/>
          <p:nvPr/>
        </p:nvSpPr>
        <p:spPr>
          <a:xfrm>
            <a:off x="4035840" y="751346"/>
            <a:ext cx="6768148" cy="5355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View Job Openings:</a:t>
            </a:r>
            <a:r>
              <a:rPr lang="en-US" sz="1900" dirty="0">
                <a:latin typeface="Aptos" panose="020B0004020202020204" pitchFamily="34" charset="0"/>
              </a:rPr>
              <a:t> Employees can view active job openings.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Submit Referrals:</a:t>
            </a:r>
            <a:r>
              <a:rPr lang="en-US" sz="1900" dirty="0">
                <a:latin typeface="Aptos" panose="020B0004020202020204" pitchFamily="34" charset="0"/>
              </a:rPr>
              <a:t> Employees can refer external candidates and provide their details and resumes.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Track Progress:</a:t>
            </a:r>
            <a:r>
              <a:rPr lang="en-US" sz="1900" dirty="0">
                <a:latin typeface="Aptos" panose="020B0004020202020204" pitchFamily="34" charset="0"/>
              </a:rPr>
              <a:t> Employees can track referral statuses and outcomes.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Review Referrals:</a:t>
            </a:r>
            <a:r>
              <a:rPr lang="en-US" sz="1900" dirty="0">
                <a:latin typeface="Aptos" panose="020B0004020202020204" pitchFamily="34" charset="0"/>
              </a:rPr>
              <a:t> HR and recruiters can access submitted referrals for review.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Manage Job Openings:</a:t>
            </a:r>
            <a:r>
              <a:rPr lang="en-US" sz="1900" dirty="0">
                <a:latin typeface="Aptos" panose="020B0004020202020204" pitchFamily="34" charset="0"/>
              </a:rPr>
              <a:t> HR and recruiters can create and maintain job listings.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Update Statuses:</a:t>
            </a:r>
            <a:r>
              <a:rPr lang="en-US" sz="1900" dirty="0">
                <a:latin typeface="Aptos" panose="020B0004020202020204" pitchFamily="34" charset="0"/>
              </a:rPr>
              <a:t> HR and recruiters can update referral statuses and record outcomes.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Communicate Updates:</a:t>
            </a:r>
            <a:r>
              <a:rPr lang="en-US" sz="1900" dirty="0">
                <a:latin typeface="Aptos" panose="020B0004020202020204" pitchFamily="34" charset="0"/>
              </a:rPr>
              <a:t> Employees receive referral progress updates and decisions.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Control Access:</a:t>
            </a:r>
            <a:r>
              <a:rPr lang="en-US" sz="1900" dirty="0">
                <a:latin typeface="Aptos" panose="020B0004020202020204" pitchFamily="34" charset="0"/>
              </a:rPr>
              <a:t> Access to portal functions and referral records is based on user roles.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Centralize Records:</a:t>
            </a:r>
            <a:r>
              <a:rPr lang="en-US" sz="1900" dirty="0">
                <a:latin typeface="Aptos" panose="020B0004020202020204" pitchFamily="34" charset="0"/>
              </a:rPr>
              <a:t> Referral information is maintained in a centralized location.</a:t>
            </a:r>
          </a:p>
        </p:txBody>
      </p:sp>
    </p:spTree>
    <p:extLst>
      <p:ext uri="{BB962C8B-B14F-4D97-AF65-F5344CB8AC3E}">
        <p14:creationId xmlns:p14="http://schemas.microsoft.com/office/powerpoint/2010/main" val="399053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C7CD0-A517-7E5C-1860-3D0C8F25A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4AB4E7-50CE-FE92-1D39-B37E7602565C}"/>
              </a:ext>
            </a:extLst>
          </p:cNvPr>
          <p:cNvSpPr/>
          <p:nvPr/>
        </p:nvSpPr>
        <p:spPr>
          <a:xfrm>
            <a:off x="412652" y="934170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STAKEHOLDER FEATURE ASK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4E06B4-3EFD-28C7-5BD4-3DE29C82095B}"/>
              </a:ext>
            </a:extLst>
          </p:cNvPr>
          <p:cNvSpPr/>
          <p:nvPr/>
        </p:nvSpPr>
        <p:spPr>
          <a:xfrm>
            <a:off x="406205" y="177337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 PROBLEM &amp;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5183B4-6C01-0CBB-C9EF-EC56E8286C59}"/>
              </a:ext>
            </a:extLst>
          </p:cNvPr>
          <p:cNvSpPr/>
          <p:nvPr/>
        </p:nvSpPr>
        <p:spPr>
          <a:xfrm>
            <a:off x="406204" y="265559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PROJECT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227F03-96D4-3CF4-4AD5-7A6214153E0F}"/>
              </a:ext>
            </a:extLst>
          </p:cNvPr>
          <p:cNvSpPr/>
          <p:nvPr/>
        </p:nvSpPr>
        <p:spPr>
          <a:xfrm>
            <a:off x="406203" y="3494808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STAKEHOLDER &amp; USER </a:t>
            </a:r>
            <a:br>
              <a:rPr lang="en-US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1A7A1D-3B27-DAC3-F07C-C15900F73AD5}"/>
              </a:ext>
            </a:extLst>
          </p:cNvPr>
          <p:cNvSpPr/>
          <p:nvPr/>
        </p:nvSpPr>
        <p:spPr>
          <a:xfrm>
            <a:off x="412652" y="4377029"/>
            <a:ext cx="3089563" cy="5957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BUSINESS REQUIREMENTS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866E94-30EE-56DE-B9D2-FB2B53EC8D77}"/>
              </a:ext>
            </a:extLst>
          </p:cNvPr>
          <p:cNvSpPr/>
          <p:nvPr/>
        </p:nvSpPr>
        <p:spPr>
          <a:xfrm>
            <a:off x="412652" y="5216237"/>
            <a:ext cx="3089563" cy="595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USER STORIES &amp; </a:t>
            </a:r>
            <a:b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ACCEPTANCE CRITERIA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177AFE-CE7A-EB8E-95B1-93FD0CDA31BC}"/>
              </a:ext>
            </a:extLst>
          </p:cNvPr>
          <p:cNvSpPr/>
          <p:nvPr/>
        </p:nvSpPr>
        <p:spPr>
          <a:xfrm>
            <a:off x="3263705" y="182880"/>
            <a:ext cx="8792307" cy="65133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C513DF-14DA-259E-3C04-524AD004ED96}"/>
              </a:ext>
            </a:extLst>
          </p:cNvPr>
          <p:cNvSpPr txBox="1">
            <a:spLocks/>
          </p:cNvSpPr>
          <p:nvPr/>
        </p:nvSpPr>
        <p:spPr>
          <a:xfrm>
            <a:off x="3777808" y="932498"/>
            <a:ext cx="7891677" cy="4953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latin typeface="Aptos" panose="020B0004020202020204" pitchFamily="34" charset="0"/>
              </a:rPr>
              <a:t>The portal requirements are organized into eight user stories.</a:t>
            </a:r>
          </a:p>
          <a:p>
            <a:pPr marL="0" indent="0">
              <a:buNone/>
            </a:pPr>
            <a:endParaRPr lang="en-US" sz="1900" dirty="0">
              <a:latin typeface="Aptos" panose="020B0004020202020204" pitchFamily="34" charset="0"/>
            </a:endParaRPr>
          </a:p>
          <a:p>
            <a:r>
              <a:rPr lang="en-US" sz="1900" b="1" dirty="0">
                <a:latin typeface="Aptos" panose="020B0004020202020204" pitchFamily="34" charset="0"/>
              </a:rPr>
              <a:t>View Active Job Openings</a:t>
            </a:r>
            <a:r>
              <a:rPr lang="en-US" sz="1900" dirty="0">
                <a:latin typeface="Aptos" panose="020B0004020202020204" pitchFamily="34" charset="0"/>
              </a:rPr>
              <a:t> — Employees browse available positions.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Submit an External Candidate Referral</a:t>
            </a:r>
            <a:r>
              <a:rPr lang="en-US" sz="1900" dirty="0">
                <a:latin typeface="Aptos" panose="020B0004020202020204" pitchFamily="34" charset="0"/>
              </a:rPr>
              <a:t> — Employees submit candidate details and resumes.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Track Referral Progress</a:t>
            </a:r>
            <a:r>
              <a:rPr lang="en-US" sz="1900" dirty="0">
                <a:latin typeface="Aptos" panose="020B0004020202020204" pitchFamily="34" charset="0"/>
              </a:rPr>
              <a:t> — Employees monitor referral status and outcomes.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Review Submitted Referrals</a:t>
            </a:r>
            <a:r>
              <a:rPr lang="en-US" sz="1900" dirty="0">
                <a:latin typeface="Aptos" panose="020B0004020202020204" pitchFamily="34" charset="0"/>
              </a:rPr>
              <a:t> — HR and recruiters review candidate referrals.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Manage Job Openings</a:t>
            </a:r>
            <a:r>
              <a:rPr lang="en-US" sz="1900" dirty="0">
                <a:latin typeface="Aptos" panose="020B0004020202020204" pitchFamily="34" charset="0"/>
              </a:rPr>
              <a:t> — HR and recruiters maintain job listings.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Update Referral Status and Outcomes</a:t>
            </a:r>
            <a:r>
              <a:rPr lang="en-US" sz="1900" dirty="0">
                <a:latin typeface="Aptos" panose="020B0004020202020204" pitchFamily="34" charset="0"/>
              </a:rPr>
              <a:t> — HR and recruiters record progress and decisions.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Notify Employees</a:t>
            </a:r>
            <a:r>
              <a:rPr lang="en-US" sz="1900" dirty="0">
                <a:latin typeface="Aptos" panose="020B0004020202020204" pitchFamily="34" charset="0"/>
              </a:rPr>
              <a:t> — Employees receive referral updates and outcomes.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Maintain Secure, Centralized Records</a:t>
            </a:r>
            <a:r>
              <a:rPr lang="en-US" sz="1900" dirty="0">
                <a:latin typeface="Aptos" panose="020B0004020202020204" pitchFamily="34" charset="0"/>
              </a:rPr>
              <a:t> — Referral information is managed with appropriate access controls.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Acceptance Criteria:</a:t>
            </a:r>
            <a:r>
              <a:rPr lang="en-US" sz="1900" dirty="0">
                <a:latin typeface="Aptos" panose="020B0004020202020204" pitchFamily="34" charset="0"/>
              </a:rPr>
              <a:t> Each user story includes specific, testable conditions that describe when the requirement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144510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1FAE29-828F-4B93-8C11-30662111F2DF}">
  <we:reference id="wa200005566" version="3.0.1.2" store="en-US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7213</TotalTime>
  <Words>796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Roslin T</dc:creator>
  <cp:lastModifiedBy>Roslin T</cp:lastModifiedBy>
  <cp:revision>6</cp:revision>
  <dcterms:created xsi:type="dcterms:W3CDTF">2026-10-21T12:14:03Z</dcterms:created>
  <dcterms:modified xsi:type="dcterms:W3CDTF">2026-10-27T07:26:29Z</dcterms:modified>
</cp:coreProperties>
</file>